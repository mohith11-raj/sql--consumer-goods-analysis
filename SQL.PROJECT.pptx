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4" r:id="rId1"/>
  </p:sldMasterIdLst>
  <p:sldIdLst>
    <p:sldId id="298" r:id="rId2"/>
    <p:sldId id="297" r:id="rId3"/>
    <p:sldId id="296" r:id="rId4"/>
    <p:sldId id="295" r:id="rId5"/>
    <p:sldId id="294" r:id="rId6"/>
    <p:sldId id="279" r:id="rId7"/>
    <p:sldId id="280" r:id="rId8"/>
    <p:sldId id="281" r:id="rId9"/>
    <p:sldId id="282" r:id="rId10"/>
    <p:sldId id="283" r:id="rId11"/>
    <p:sldId id="286" r:id="rId12"/>
    <p:sldId id="285" r:id="rId13"/>
    <p:sldId id="284" r:id="rId14"/>
    <p:sldId id="287" r:id="rId15"/>
    <p:sldId id="29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tin" initials="Y" lastIdx="1" clrIdx="0">
    <p:extLst>
      <p:ext uri="{19B8F6BF-5375-455C-9EA6-DF929625EA0E}">
        <p15:presenceInfo xmlns:p15="http://schemas.microsoft.com/office/powerpoint/2012/main" userId="Yat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59" autoAdjust="0"/>
    <p:restoredTop sz="94660"/>
  </p:normalViewPr>
  <p:slideViewPr>
    <p:cSldViewPr snapToGrid="0">
      <p:cViewPr varScale="1">
        <p:scale>
          <a:sx n="89" d="100"/>
          <a:sy n="89" d="100"/>
        </p:scale>
        <p:origin x="5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120E51-C56C-4012-806D-5784D7847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9B54379B-293E-4460-9C51-DB12A99098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9DBF51B-4BD0-4EFE-AE73-C13881130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CC6EE-CA8B-4DE3-83BE-5C755E0F92F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EE44C22-4A7D-4C9A-9CFB-38C755C5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88507E8-2023-4990-8637-E5D00E056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6037A-8712-42E1-A4A2-11AB8AC9F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162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529576C-F80A-4EAB-8C8F-BBDB9ABAC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820900F-C6DE-4F69-A2BA-DF10BB697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8BB3157-F27B-4E63-9DBB-F58DFC8EE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CC6EE-CA8B-4DE3-83BE-5C755E0F92F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0740A0F-97C9-48CA-86FD-74CD55FD1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5914BB5-872F-4F5A-85AA-564C00A7D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6037A-8712-42E1-A4A2-11AB8AC9F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845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3E3F1EC-FC81-4484-87E7-E755229D3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6D46B2B-3192-42FE-A955-BFD867C1B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43A8737-1000-40BD-A6B6-6D0DD42C2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CC6EE-CA8B-4DE3-83BE-5C755E0F92F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807A54A-5D85-4FD9-A979-E3542C09D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64CB490-7906-41ED-9796-2BDD2F197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6037A-8712-42E1-A4A2-11AB8AC9F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232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29543D2-FF36-453B-BFB2-0BAF12574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9ACC102-52DD-4C30-A01D-01C50E7873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57C59A3-0F71-40FD-AE38-27AEFD525C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5238265-0A1E-4331-A213-9F2F0EA8B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CC6EE-CA8B-4DE3-83BE-5C755E0F92F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B09DDC3-7FE5-4D90-ABA8-48992D9EF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A28B236-AC6B-4345-8250-CB0256771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6037A-8712-42E1-A4A2-11AB8AC9F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7942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AC62233-9661-479E-B116-39CB9AD26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0DC6FC3-3BA6-423F-8A38-4F8C54239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CB72EAD-6D99-43F7-8A5A-1304FC6230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254D30BD-792F-4459-AFB1-0E34283D34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5994802-92B6-4B74-A588-D2C02C3C51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ED0734C5-CC55-417E-B20B-0D85C2C8D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CC6EE-CA8B-4DE3-83BE-5C755E0F92F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22A36EB8-1E6A-4066-B5FF-FEE35BB42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B8415B4D-5530-4FDB-8291-C541AB147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6037A-8712-42E1-A4A2-11AB8AC9F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348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A9FC82-8A81-4F85-A55B-A40F53F09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3EF72AE1-0C47-4584-889B-AEBE82106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CC6EE-CA8B-4DE3-83BE-5C755E0F92F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0860E063-B543-43FC-824B-6183254E0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DE7A85CE-2C75-4DA9-BD1A-FBC45000D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6037A-8712-42E1-A4A2-11AB8AC9F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2835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C5073DA-4C5F-45F6-AB02-6DEC4325D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CC6EE-CA8B-4DE3-83BE-5C755E0F92F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3A604056-00C2-4DBD-A7AB-E087651E2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647FF6C-2B52-4E44-8D13-DBF195559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6037A-8712-42E1-A4A2-11AB8AC9F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833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EEAF36-3EBC-4FE3-B8C3-0E6A6D99B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34D2237-82C3-4D96-977B-4B769A956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18755EB-FBA9-4DE0-BAFB-FD61FCB03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B22DDD3-39D1-488E-B7E7-95B41C025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CC6EE-CA8B-4DE3-83BE-5C755E0F92F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15A3D10-0174-4FE0-BF7C-0409B6BFD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C7EECE4-A754-46BD-8627-FF868E051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6037A-8712-42E1-A4A2-11AB8AC9F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387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B840A0-2E4B-4DA6-8627-02A5156CF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86EB7FAF-CDC7-4A9C-8142-8CB33CF4C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4E06981-476F-430D-BD63-D75784F9E8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888D206-CEED-4E4C-88AB-83BE01A58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CC6EE-CA8B-4DE3-83BE-5C755E0F92F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50C3683-34E4-4696-A4F0-E13EC856E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315D75B-65CC-4FF8-AF4B-D0248120D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6037A-8712-42E1-A4A2-11AB8AC9F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112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73F586-8A25-41D4-8C2E-A3434F624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7D4F7208-F6E4-40C9-9DBD-0A4A2B3F04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7737182-6D42-46B7-9BC2-096EAD796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CC6EE-CA8B-4DE3-83BE-5C755E0F92F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961B30F-2E64-439F-818B-EE5F17C69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ACAA50A-C3EE-4C37-A933-644D5F5C2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6037A-8712-42E1-A4A2-11AB8AC9F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3726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E2EB6088-550A-4188-9DBC-3B7286E4E8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191EF74-59A3-4CC0-B0AA-9849CA3A80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62322DB-1934-4868-9A18-DE9C3838F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CC6EE-CA8B-4DE3-83BE-5C755E0F92F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008EE36-E064-4B6C-B0FF-AC899DD94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09FF61C-47C4-4916-A962-0F59B6861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6037A-8712-42E1-A4A2-11AB8AC9F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0938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FB553473-5C74-47DD-BB3A-C0331A194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B2E7A47-974E-40BA-818D-94E00BF59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1729963-70E6-424D-BFF3-7AF57E1F4B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DCC6EE-CA8B-4DE3-83BE-5C755E0F92F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CD2E6BC-D404-4281-AE8C-F5B0845383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D6F071C-F454-49A8-AD03-C934581D54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36037A-8712-42E1-A4A2-11AB8AC9F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439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0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535762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CF225A02-54B4-4085-AA74-7172D6F153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880A814-AE87-4AAF-B243-7F076C8D156A}"/>
              </a:ext>
            </a:extLst>
          </p:cNvPr>
          <p:cNvSpPr txBox="1"/>
          <p:nvPr/>
        </p:nvSpPr>
        <p:spPr>
          <a:xfrm>
            <a:off x="101600" y="6412040"/>
            <a:ext cx="2226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venir LT Pro 65 Medium" panose="020B0603020203020204" pitchFamily="34" charset="0"/>
              </a:rPr>
              <a:t>AtliQ Hardwares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92766D5-9C13-43FA-B2C8-4C219B2CF2F3}"/>
              </a:ext>
            </a:extLst>
          </p:cNvPr>
          <p:cNvSpPr txBox="1"/>
          <p:nvPr/>
        </p:nvSpPr>
        <p:spPr>
          <a:xfrm>
            <a:off x="10219015" y="6427429"/>
            <a:ext cx="3540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Avenir LT Pro 65 Medium" panose="020B0603020203020204" pitchFamily="34" charset="0"/>
              </a:rPr>
              <a:t>by </a:t>
            </a:r>
            <a:r>
              <a:rPr lang="en-IN" sz="1600" dirty="0" err="1" smtClean="0">
                <a:latin typeface="Avenir LT Pro 65 Medium" panose="020B0603020203020204" pitchFamily="34" charset="0"/>
              </a:rPr>
              <a:t>Mohith</a:t>
            </a:r>
            <a:r>
              <a:rPr lang="en-IN" sz="1600" dirty="0" smtClean="0">
                <a:latin typeface="Avenir LT Pro 65 Medium" panose="020B0603020203020204" pitchFamily="34" charset="0"/>
              </a:rPr>
              <a:t> Raj</a:t>
            </a:r>
            <a:endParaRPr lang="en-IN" sz="1600" dirty="0">
              <a:latin typeface="Avenir LT Pro 65 Medium" panose="020B0603020203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F47BAB9B-4784-4EA9-A754-5D2A8944176C}"/>
              </a:ext>
            </a:extLst>
          </p:cNvPr>
          <p:cNvSpPr txBox="1"/>
          <p:nvPr/>
        </p:nvSpPr>
        <p:spPr>
          <a:xfrm>
            <a:off x="1630017" y="1045788"/>
            <a:ext cx="9289774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b="1" i="0" dirty="0">
                <a:effectLst/>
                <a:latin typeface="Söhne"/>
              </a:rPr>
              <a:t>Unveiling Insights: Leveraging Data for Strategic Decision-Making</a:t>
            </a:r>
          </a:p>
          <a:p>
            <a:pPr algn="l">
              <a:lnSpc>
                <a:spcPct val="150000"/>
              </a:lnSpc>
            </a:pPr>
            <a:endParaRPr lang="en-GB" b="0" i="0" dirty="0">
              <a:effectLst/>
              <a:latin typeface="Söhne"/>
            </a:endParaRPr>
          </a:p>
          <a:p>
            <a:pPr algn="l">
              <a:lnSpc>
                <a:spcPct val="150000"/>
              </a:lnSpc>
            </a:pPr>
            <a:r>
              <a:rPr lang="en-GB" b="1" i="0" dirty="0">
                <a:effectLst/>
                <a:latin typeface="Söhne"/>
              </a:rPr>
              <a:t>Problem Statement:</a:t>
            </a:r>
            <a:r>
              <a:rPr lang="en-GB" b="0" i="0" dirty="0">
                <a:effectLst/>
                <a:latin typeface="Söhne"/>
              </a:rPr>
              <a:t> </a:t>
            </a:r>
          </a:p>
          <a:p>
            <a:pPr algn="l">
              <a:lnSpc>
                <a:spcPct val="150000"/>
              </a:lnSpc>
            </a:pPr>
            <a:r>
              <a:rPr lang="en-GB" b="0" i="0" dirty="0">
                <a:effectLst/>
                <a:latin typeface="Söhne"/>
              </a:rPr>
              <a:t>Atliq Hardware's, a leading computer hardware producer, faced a critical challenge. They needed quick and data-informed decisions to stay competitive in the ever-evolving market. The management noticed that they were missing crucial insights for strategic moves.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xmlns="" id="{67CEAD26-F594-4B07-820E-422A7D38754C}"/>
              </a:ext>
            </a:extLst>
          </p:cNvPr>
          <p:cNvSpPr txBox="1"/>
          <p:nvPr/>
        </p:nvSpPr>
        <p:spPr>
          <a:xfrm>
            <a:off x="1630016" y="3897338"/>
            <a:ext cx="9289773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Söhne"/>
              </a:rPr>
              <a:t>To tackle this, they hired a data analytics team, and I took on the SQL challenge. My aim? Answer 10 ad-hoc requests, translating data into valuable insights for strategic decision-making.</a:t>
            </a:r>
            <a:endParaRPr lang="en-IN" dirty="0"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3051409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CF225A02-54B4-4085-AA74-7172D6F153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880A814-AE87-4AAF-B243-7F076C8D156A}"/>
              </a:ext>
            </a:extLst>
          </p:cNvPr>
          <p:cNvSpPr txBox="1"/>
          <p:nvPr/>
        </p:nvSpPr>
        <p:spPr>
          <a:xfrm>
            <a:off x="101600" y="6412040"/>
            <a:ext cx="2226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venir LT Pro 65 Medium" panose="020B0603020203020204" pitchFamily="34" charset="0"/>
              </a:rPr>
              <a:t>AtliQ Hardwares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F47BAB9B-4784-4EA9-A754-5D2A8944176C}"/>
              </a:ext>
            </a:extLst>
          </p:cNvPr>
          <p:cNvSpPr txBox="1"/>
          <p:nvPr/>
        </p:nvSpPr>
        <p:spPr>
          <a:xfrm>
            <a:off x="1214782" y="1080000"/>
            <a:ext cx="975801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GB" b="1" dirty="0">
                <a:latin typeface="Söhne"/>
              </a:rPr>
              <a:t>Key Insights:</a:t>
            </a:r>
          </a:p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Söhne"/>
              </a:rPr>
              <a:t>Significant increase in unique products, with 334 in 2021 compared to 245 in 2020.</a:t>
            </a:r>
          </a:p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Söhne"/>
              </a:rPr>
              <a:t>The "Notebook" segment boasts the highest product count, with 129 products.</a:t>
            </a:r>
          </a:p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Söhne"/>
              </a:rPr>
              <a:t>The "Accessories" segment saw a notable increase in product counts, with 34 more products in 2021 compared to 2020.</a:t>
            </a:r>
          </a:p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Söhne"/>
              </a:rPr>
              <a:t>"Flipkart" leads with the highest average pre-invoice discount percentage at 30.83%.</a:t>
            </a:r>
          </a:p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Söhne"/>
              </a:rPr>
              <a:t>Fiscal year 2020's low sales in March and April improved in fiscal year 2021.</a:t>
            </a:r>
          </a:p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Söhne"/>
              </a:rPr>
              <a:t>The "Retailer" channel contributes to 73.22% of gross sales, making it the key driver.</a:t>
            </a:r>
          </a:p>
          <a:p>
            <a:pPr algn="l">
              <a:lnSpc>
                <a:spcPct val="200000"/>
              </a:lnSpc>
            </a:pPr>
            <a:endParaRPr lang="en-GB" b="0" i="0" dirty="0">
              <a:effectLst/>
              <a:latin typeface="Söhne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092766D5-9C13-43FA-B2C8-4C219B2CF2F3}"/>
              </a:ext>
            </a:extLst>
          </p:cNvPr>
          <p:cNvSpPr txBox="1"/>
          <p:nvPr/>
        </p:nvSpPr>
        <p:spPr>
          <a:xfrm>
            <a:off x="10219015" y="6427429"/>
            <a:ext cx="3540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Avenir LT Pro 65 Medium" panose="020B0603020203020204" pitchFamily="34" charset="0"/>
              </a:rPr>
              <a:t>by </a:t>
            </a:r>
            <a:r>
              <a:rPr lang="en-IN" sz="1600" dirty="0" err="1" smtClean="0">
                <a:latin typeface="Avenir LT Pro 65 Medium" panose="020B0603020203020204" pitchFamily="34" charset="0"/>
              </a:rPr>
              <a:t>Mohith</a:t>
            </a:r>
            <a:r>
              <a:rPr lang="en-IN" sz="1600" dirty="0" smtClean="0">
                <a:latin typeface="Avenir LT Pro 65 Medium" panose="020B0603020203020204" pitchFamily="34" charset="0"/>
              </a:rPr>
              <a:t> Raj</a:t>
            </a:r>
            <a:endParaRPr lang="en-IN" sz="1600" dirty="0">
              <a:latin typeface="Avenir LT Pro 65 Medium" panose="020B06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6965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77395C1C-5C6E-4267-8579-728DEA313AE6}"/>
              </a:ext>
            </a:extLst>
          </p:cNvPr>
          <p:cNvSpPr txBox="1"/>
          <p:nvPr/>
        </p:nvSpPr>
        <p:spPr>
          <a:xfrm>
            <a:off x="1214782" y="533664"/>
            <a:ext cx="60192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Database Overview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CF225A02-54B4-4085-AA74-7172D6F153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880A814-AE87-4AAF-B243-7F076C8D156A}"/>
              </a:ext>
            </a:extLst>
          </p:cNvPr>
          <p:cNvSpPr txBox="1"/>
          <p:nvPr/>
        </p:nvSpPr>
        <p:spPr>
          <a:xfrm>
            <a:off x="101600" y="6412040"/>
            <a:ext cx="2226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venir LT Pro 65 Medium" panose="020B0603020203020204" pitchFamily="34" charset="0"/>
              </a:rPr>
              <a:t>AtliQ Hardwares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1A828F06-B180-40D2-A904-8652F2A6E0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782" y="5245411"/>
            <a:ext cx="6725589" cy="6382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A5F44CFC-C9E3-4C01-8CA6-6FD0408BA5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782" y="3581767"/>
            <a:ext cx="6658904" cy="13908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04552DC7-E91A-435B-B6D3-683A5392E7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782" y="1460012"/>
            <a:ext cx="6420746" cy="198147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02960BBE-758E-47C7-BDEB-9DABD96278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8693" y="4988200"/>
            <a:ext cx="1914792" cy="895475"/>
          </a:xfrm>
          <a:prstGeom prst="rect">
            <a:avLst/>
          </a:prstGeom>
        </p:spPr>
      </p:pic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xmlns="" id="{D5BED3F1-C45E-448B-B04A-BAA77905F53C}"/>
              </a:ext>
            </a:extLst>
          </p:cNvPr>
          <p:cNvCxnSpPr>
            <a:cxnSpLocks/>
          </p:cNvCxnSpPr>
          <p:nvPr/>
        </p:nvCxnSpPr>
        <p:spPr>
          <a:xfrm rot="10800000" flipV="1">
            <a:off x="7940374" y="1923692"/>
            <a:ext cx="1534931" cy="52705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xmlns="" id="{9810AF2E-F1B3-4B35-8400-5DCCE33FC121}"/>
              </a:ext>
            </a:extLst>
          </p:cNvPr>
          <p:cNvCxnSpPr>
            <a:cxnSpLocks/>
          </p:cNvCxnSpPr>
          <p:nvPr/>
        </p:nvCxnSpPr>
        <p:spPr>
          <a:xfrm rot="10800000" flipV="1">
            <a:off x="7940371" y="2452058"/>
            <a:ext cx="1974193" cy="182513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xmlns="" id="{ADFCD5FC-C1AB-43CB-9DB8-BEDB08EAA454}"/>
              </a:ext>
            </a:extLst>
          </p:cNvPr>
          <p:cNvCxnSpPr>
            <a:cxnSpLocks/>
          </p:cNvCxnSpPr>
          <p:nvPr/>
        </p:nvCxnSpPr>
        <p:spPr>
          <a:xfrm rot="10800000" flipV="1">
            <a:off x="7940373" y="3161761"/>
            <a:ext cx="2462584" cy="232322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270C5134-91E8-4CD9-8D54-C047ED9561FB}"/>
              </a:ext>
            </a:extLst>
          </p:cNvPr>
          <p:cNvSpPr txBox="1"/>
          <p:nvPr/>
        </p:nvSpPr>
        <p:spPr>
          <a:xfrm>
            <a:off x="9475305" y="1723637"/>
            <a:ext cx="19741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Tables</a:t>
            </a:r>
            <a:r>
              <a:rPr lang="en-IN" sz="2000" dirty="0"/>
              <a:t>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A63F9F13-424F-471E-A1D7-7F0A5ED05B82}"/>
              </a:ext>
            </a:extLst>
          </p:cNvPr>
          <p:cNvSpPr txBox="1"/>
          <p:nvPr/>
        </p:nvSpPr>
        <p:spPr>
          <a:xfrm>
            <a:off x="9913470" y="2144676"/>
            <a:ext cx="19741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Stored Procedures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84DB3F12-DB18-4A0E-85B0-C4B8B53438E8}"/>
              </a:ext>
            </a:extLst>
          </p:cNvPr>
          <p:cNvSpPr txBox="1"/>
          <p:nvPr/>
        </p:nvSpPr>
        <p:spPr>
          <a:xfrm>
            <a:off x="10402957" y="2939158"/>
            <a:ext cx="19741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Functions </a:t>
            </a:r>
          </a:p>
        </p:txBody>
      </p:sp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xmlns="" id="{85D2728C-8E07-4EFB-BBBD-10912F7A7E10}"/>
              </a:ext>
            </a:extLst>
          </p:cNvPr>
          <p:cNvCxnSpPr>
            <a:cxnSpLocks/>
          </p:cNvCxnSpPr>
          <p:nvPr/>
        </p:nvCxnSpPr>
        <p:spPr>
          <a:xfrm flipV="1">
            <a:off x="7635528" y="5453201"/>
            <a:ext cx="1536137" cy="74148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xmlns="" id="{CFC11E20-DD06-4710-BA0A-BCF4A3C18CB8}"/>
              </a:ext>
            </a:extLst>
          </p:cNvPr>
          <p:cNvSpPr txBox="1"/>
          <p:nvPr/>
        </p:nvSpPr>
        <p:spPr>
          <a:xfrm>
            <a:off x="6953274" y="5963460"/>
            <a:ext cx="9870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Views</a:t>
            </a:r>
            <a:r>
              <a:rPr lang="en-IN" sz="2000" dirty="0"/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092766D5-9C13-43FA-B2C8-4C219B2CF2F3}"/>
              </a:ext>
            </a:extLst>
          </p:cNvPr>
          <p:cNvSpPr txBox="1"/>
          <p:nvPr/>
        </p:nvSpPr>
        <p:spPr>
          <a:xfrm>
            <a:off x="10219015" y="6427429"/>
            <a:ext cx="3540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Avenir LT Pro 65 Medium" panose="020B0603020203020204" pitchFamily="34" charset="0"/>
              </a:rPr>
              <a:t>by </a:t>
            </a:r>
            <a:r>
              <a:rPr lang="en-IN" sz="1600" dirty="0" err="1" smtClean="0">
                <a:latin typeface="Avenir LT Pro 65 Medium" panose="020B0603020203020204" pitchFamily="34" charset="0"/>
              </a:rPr>
              <a:t>Mohith</a:t>
            </a:r>
            <a:r>
              <a:rPr lang="en-IN" sz="1600" dirty="0" smtClean="0">
                <a:latin typeface="Avenir LT Pro 65 Medium" panose="020B0603020203020204" pitchFamily="34" charset="0"/>
              </a:rPr>
              <a:t> Raj</a:t>
            </a:r>
            <a:endParaRPr lang="en-IN" sz="1600" dirty="0">
              <a:latin typeface="Avenir LT Pro 65 Medium" panose="020B06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9983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77395C1C-5C6E-4267-8579-728DEA313AE6}"/>
              </a:ext>
            </a:extLst>
          </p:cNvPr>
          <p:cNvSpPr txBox="1"/>
          <p:nvPr/>
        </p:nvSpPr>
        <p:spPr>
          <a:xfrm>
            <a:off x="1346807" y="589486"/>
            <a:ext cx="60192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Provide the list of market in which customer </a:t>
            </a:r>
          </a:p>
          <a:p>
            <a:r>
              <a:rPr lang="en-GB" sz="2000" b="1" dirty="0"/>
              <a:t>“Atliq Exclusive” operates its business in APAC region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CF225A02-54B4-4085-AA74-7172D6F153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880A814-AE87-4AAF-B243-7F076C8D156A}"/>
              </a:ext>
            </a:extLst>
          </p:cNvPr>
          <p:cNvSpPr txBox="1"/>
          <p:nvPr/>
        </p:nvSpPr>
        <p:spPr>
          <a:xfrm>
            <a:off x="101600" y="6412040"/>
            <a:ext cx="2226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venir LT Pro 65 Medium" panose="020B0603020203020204" pitchFamily="34" charset="0"/>
              </a:rPr>
              <a:t>AtliQ Hardwares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B2AC1567-611E-471D-BB18-610783ADEE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293" y="2162402"/>
            <a:ext cx="6033740" cy="19074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99081C2-0C66-4A57-BD32-229A329C58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7260" y="2162402"/>
            <a:ext cx="1811763" cy="37394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092766D5-9C13-43FA-B2C8-4C219B2CF2F3}"/>
              </a:ext>
            </a:extLst>
          </p:cNvPr>
          <p:cNvSpPr txBox="1"/>
          <p:nvPr/>
        </p:nvSpPr>
        <p:spPr>
          <a:xfrm>
            <a:off x="10219015" y="6427429"/>
            <a:ext cx="3540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Avenir LT Pro 65 Medium" panose="020B0603020203020204" pitchFamily="34" charset="0"/>
              </a:rPr>
              <a:t>by </a:t>
            </a:r>
            <a:r>
              <a:rPr lang="en-IN" sz="1600" dirty="0" err="1" smtClean="0">
                <a:latin typeface="Avenir LT Pro 65 Medium" panose="020B0603020203020204" pitchFamily="34" charset="0"/>
              </a:rPr>
              <a:t>Mohith</a:t>
            </a:r>
            <a:r>
              <a:rPr lang="en-IN" sz="1600" dirty="0" smtClean="0">
                <a:latin typeface="Avenir LT Pro 65 Medium" panose="020B0603020203020204" pitchFamily="34" charset="0"/>
              </a:rPr>
              <a:t> Raj</a:t>
            </a:r>
            <a:endParaRPr lang="en-IN" sz="1600" dirty="0">
              <a:latin typeface="Avenir LT Pro 65 Medium" panose="020B06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2107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4E606B63-109F-48F1-85F2-496E9BF2ED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C90F760-FB28-46C0-BEE6-D9628C66C701}"/>
              </a:ext>
            </a:extLst>
          </p:cNvPr>
          <p:cNvSpPr txBox="1"/>
          <p:nvPr/>
        </p:nvSpPr>
        <p:spPr>
          <a:xfrm>
            <a:off x="101600" y="6412040"/>
            <a:ext cx="2226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venir LT Pro 65 Medium" panose="020B0603020203020204" pitchFamily="34" charset="0"/>
              </a:rPr>
              <a:t>AtliQ Hardwares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74592F0B-8A7F-49EA-8655-BD8AD79E67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271" y="1457358"/>
            <a:ext cx="7544853" cy="29840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B306CA19-541B-4ED5-A5BC-3DD51FCBAE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412" y="4952676"/>
            <a:ext cx="5515745" cy="57158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1C8F2B6D-05D6-41FE-BF97-BFFB0A8034A0}"/>
              </a:ext>
            </a:extLst>
          </p:cNvPr>
          <p:cNvSpPr txBox="1"/>
          <p:nvPr/>
        </p:nvSpPr>
        <p:spPr>
          <a:xfrm>
            <a:off x="1401271" y="545943"/>
            <a:ext cx="9389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What is the percentage of unique product increase in 2021vs.2020?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092766D5-9C13-43FA-B2C8-4C219B2CF2F3}"/>
              </a:ext>
            </a:extLst>
          </p:cNvPr>
          <p:cNvSpPr txBox="1"/>
          <p:nvPr/>
        </p:nvSpPr>
        <p:spPr>
          <a:xfrm>
            <a:off x="10219015" y="6427429"/>
            <a:ext cx="3540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Avenir LT Pro 65 Medium" panose="020B0603020203020204" pitchFamily="34" charset="0"/>
              </a:rPr>
              <a:t>by </a:t>
            </a:r>
            <a:r>
              <a:rPr lang="en-IN" sz="1600" dirty="0" err="1" smtClean="0">
                <a:latin typeface="Avenir LT Pro 65 Medium" panose="020B0603020203020204" pitchFamily="34" charset="0"/>
              </a:rPr>
              <a:t>Mohith</a:t>
            </a:r>
            <a:r>
              <a:rPr lang="en-IN" sz="1600" dirty="0" smtClean="0">
                <a:latin typeface="Avenir LT Pro 65 Medium" panose="020B0603020203020204" pitchFamily="34" charset="0"/>
              </a:rPr>
              <a:t> Raj</a:t>
            </a:r>
            <a:endParaRPr lang="en-IN" sz="1600" dirty="0">
              <a:latin typeface="Avenir LT Pro 65 Medium" panose="020B06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9971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4E606B63-109F-48F1-85F2-496E9BF2ED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C90F760-FB28-46C0-BEE6-D9628C66C701}"/>
              </a:ext>
            </a:extLst>
          </p:cNvPr>
          <p:cNvSpPr txBox="1"/>
          <p:nvPr/>
        </p:nvSpPr>
        <p:spPr>
          <a:xfrm>
            <a:off x="101600" y="6412040"/>
            <a:ext cx="2226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venir LT Pro 65 Medium" panose="020B0603020203020204" pitchFamily="34" charset="0"/>
              </a:rPr>
              <a:t>AtliQ Hardwares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1C8F2B6D-05D6-41FE-BF97-BFFB0A8034A0}"/>
              </a:ext>
            </a:extLst>
          </p:cNvPr>
          <p:cNvSpPr txBox="1"/>
          <p:nvPr/>
        </p:nvSpPr>
        <p:spPr>
          <a:xfrm>
            <a:off x="1080000" y="693758"/>
            <a:ext cx="9389456" cy="1047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74015" eaLnBrk="0">
              <a:lnSpc>
                <a:spcPts val="1295"/>
              </a:lnSpc>
              <a:spcBef>
                <a:spcPts val="520"/>
              </a:spcBef>
              <a:spcAft>
                <a:spcPts val="0"/>
              </a:spcAft>
            </a:pPr>
            <a:r>
              <a:rPr lang="en-US" b="1" dirty="0"/>
              <a:t>Provide  a  report  with  all  the  unique  product  counts  for  each  segment</a:t>
            </a:r>
            <a:endParaRPr lang="en-IN" b="1" dirty="0"/>
          </a:p>
          <a:p>
            <a:pPr marL="374015" eaLnBrk="0">
              <a:lnSpc>
                <a:spcPts val="1295"/>
              </a:lnSpc>
              <a:spcBef>
                <a:spcPts val="55"/>
              </a:spcBef>
              <a:spcAft>
                <a:spcPts val="0"/>
              </a:spcAft>
            </a:pPr>
            <a:r>
              <a:rPr lang="en-US" b="1" dirty="0"/>
              <a:t>and  sort  them  in  descending  order  of  product  counts. </a:t>
            </a:r>
          </a:p>
          <a:p>
            <a:pPr marL="374015" eaLnBrk="0">
              <a:lnSpc>
                <a:spcPts val="1295"/>
              </a:lnSpc>
              <a:spcBef>
                <a:spcPts val="55"/>
              </a:spcBef>
              <a:spcAft>
                <a:spcPts val="0"/>
              </a:spcAft>
            </a:pPr>
            <a:endParaRPr lang="en-US" b="1" dirty="0"/>
          </a:p>
          <a:p>
            <a:pPr marL="374015" eaLnBrk="0">
              <a:lnSpc>
                <a:spcPts val="1295"/>
              </a:lnSpc>
              <a:spcBef>
                <a:spcPts val="55"/>
              </a:spcBef>
              <a:spcAft>
                <a:spcPts val="0"/>
              </a:spcAft>
            </a:pPr>
            <a:r>
              <a:rPr lang="en-US" b="1" dirty="0"/>
              <a:t>The  final  output</a:t>
            </a:r>
            <a:r>
              <a:rPr lang="en-IN" b="1" dirty="0"/>
              <a:t> </a:t>
            </a:r>
            <a:r>
              <a:rPr lang="en-US" b="1" dirty="0"/>
              <a:t>contains  2  fields, segment   product count.</a:t>
            </a:r>
            <a:endParaRPr lang="en-IN" b="1" dirty="0"/>
          </a:p>
          <a:p>
            <a:pPr marL="374015" eaLnBrk="0">
              <a:lnSpc>
                <a:spcPts val="1295"/>
              </a:lnSpc>
              <a:spcBef>
                <a:spcPts val="520"/>
              </a:spcBef>
              <a:spcAft>
                <a:spcPts val="0"/>
              </a:spcAft>
            </a:pPr>
            <a:endParaRPr lang="en-IN" sz="1800" b="1" dirty="0">
              <a:effectLst/>
              <a:ea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A75269E-E143-4C38-AFC2-0DA91A209B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0070" y="2258374"/>
            <a:ext cx="2825244" cy="23412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5459C2FE-5B14-4061-8C32-C13D037F6F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469" y="2258374"/>
            <a:ext cx="6201640" cy="23412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092766D5-9C13-43FA-B2C8-4C219B2CF2F3}"/>
              </a:ext>
            </a:extLst>
          </p:cNvPr>
          <p:cNvSpPr txBox="1"/>
          <p:nvPr/>
        </p:nvSpPr>
        <p:spPr>
          <a:xfrm>
            <a:off x="10219015" y="6427429"/>
            <a:ext cx="3540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Avenir LT Pro 65 Medium" panose="020B0603020203020204" pitchFamily="34" charset="0"/>
              </a:rPr>
              <a:t>by </a:t>
            </a:r>
            <a:r>
              <a:rPr lang="en-IN" sz="1600" dirty="0" err="1" smtClean="0">
                <a:latin typeface="Avenir LT Pro 65 Medium" panose="020B0603020203020204" pitchFamily="34" charset="0"/>
              </a:rPr>
              <a:t>Mohith</a:t>
            </a:r>
            <a:r>
              <a:rPr lang="en-IN" sz="1600" dirty="0" smtClean="0">
                <a:latin typeface="Avenir LT Pro 65 Medium" panose="020B0603020203020204" pitchFamily="34" charset="0"/>
              </a:rPr>
              <a:t> Raj</a:t>
            </a:r>
            <a:endParaRPr lang="en-IN" sz="1600" dirty="0">
              <a:latin typeface="Avenir LT Pro 65 Medium" panose="020B06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5331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4E606B63-109F-48F1-85F2-496E9BF2ED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C90F760-FB28-46C0-BEE6-D9628C66C701}"/>
              </a:ext>
            </a:extLst>
          </p:cNvPr>
          <p:cNvSpPr txBox="1"/>
          <p:nvPr/>
        </p:nvSpPr>
        <p:spPr>
          <a:xfrm>
            <a:off x="101600" y="6412040"/>
            <a:ext cx="2226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venir LT Pro 65 Medium" panose="020B0603020203020204" pitchFamily="34" charset="0"/>
              </a:rPr>
              <a:t>AtliQ Hardwares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1C8F2B6D-05D6-41FE-BF97-BFFB0A8034A0}"/>
              </a:ext>
            </a:extLst>
          </p:cNvPr>
          <p:cNvSpPr txBox="1"/>
          <p:nvPr/>
        </p:nvSpPr>
        <p:spPr>
          <a:xfrm>
            <a:off x="540000" y="132674"/>
            <a:ext cx="9818272" cy="1064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9115" marR="130810" indent="-526415" eaLnBrk="0">
              <a:lnSpc>
                <a:spcPct val="117000"/>
              </a:lnSpc>
              <a:spcBef>
                <a:spcPts val="700"/>
              </a:spcBef>
              <a:spcAft>
                <a:spcPts val="0"/>
              </a:spcAft>
            </a:pPr>
            <a:r>
              <a:rPr lang="en-US" sz="1800" b="1" spc="-5" dirty="0">
                <a:effectLst/>
                <a:ea typeface="Arial" panose="020B0604020202020204" pitchFamily="34" charset="0"/>
              </a:rPr>
              <a:t>          </a:t>
            </a:r>
            <a:r>
              <a:rPr lang="en-US" b="1" dirty="0"/>
              <a:t>Follow-up: Which segment  had the  most  increase  in  unique  products  in 2021 vs 2020?          The final output contains these fields, segment</a:t>
            </a:r>
            <a:r>
              <a:rPr lang="en-IN" b="1" dirty="0"/>
              <a:t>, </a:t>
            </a:r>
            <a:r>
              <a:rPr lang="en-US" b="1" dirty="0"/>
              <a:t>product   count    2020    product_count_202I      difference.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D2D6AB9-D5FD-4454-82FE-D2A77FBB41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" y="1274255"/>
            <a:ext cx="7754432" cy="3191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C4856830-2469-4ECF-8FA7-12C09322B6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2243" y="4465575"/>
            <a:ext cx="5744377" cy="18385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092766D5-9C13-43FA-B2C8-4C219B2CF2F3}"/>
              </a:ext>
            </a:extLst>
          </p:cNvPr>
          <p:cNvSpPr txBox="1"/>
          <p:nvPr/>
        </p:nvSpPr>
        <p:spPr>
          <a:xfrm>
            <a:off x="10219015" y="6427429"/>
            <a:ext cx="3540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Avenir LT Pro 65 Medium" panose="020B0603020203020204" pitchFamily="34" charset="0"/>
              </a:rPr>
              <a:t>by </a:t>
            </a:r>
            <a:r>
              <a:rPr lang="en-IN" sz="1600" dirty="0" err="1" smtClean="0">
                <a:latin typeface="Avenir LT Pro 65 Medium" panose="020B0603020203020204" pitchFamily="34" charset="0"/>
              </a:rPr>
              <a:t>Mohith</a:t>
            </a:r>
            <a:r>
              <a:rPr lang="en-IN" sz="1600" dirty="0" smtClean="0">
                <a:latin typeface="Avenir LT Pro 65 Medium" panose="020B0603020203020204" pitchFamily="34" charset="0"/>
              </a:rPr>
              <a:t> Raj</a:t>
            </a:r>
            <a:endParaRPr lang="en-IN" sz="1600" dirty="0">
              <a:latin typeface="Avenir LT Pro 65 Medium" panose="020B06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447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4E606B63-109F-48F1-85F2-496E9BF2ED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C90F760-FB28-46C0-BEE6-D9628C66C701}"/>
              </a:ext>
            </a:extLst>
          </p:cNvPr>
          <p:cNvSpPr txBox="1"/>
          <p:nvPr/>
        </p:nvSpPr>
        <p:spPr>
          <a:xfrm>
            <a:off x="101600" y="6412040"/>
            <a:ext cx="2226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venir LT Pro 65 Medium" panose="020B0603020203020204" pitchFamily="34" charset="0"/>
              </a:rPr>
              <a:t>AtliQ Hardwares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1C8F2B6D-05D6-41FE-BF97-BFFB0A8034A0}"/>
              </a:ext>
            </a:extLst>
          </p:cNvPr>
          <p:cNvSpPr txBox="1"/>
          <p:nvPr/>
        </p:nvSpPr>
        <p:spPr>
          <a:xfrm>
            <a:off x="1401272" y="375674"/>
            <a:ext cx="9389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Get the products The final output that have the highest and lowest manufacturing costs</a:t>
            </a:r>
          </a:p>
          <a:p>
            <a:r>
              <a:rPr lang="en-GB" b="1" dirty="0"/>
              <a:t>should contain these fields, product_code, product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5E6FBA8-AD9F-4FCA-9B0D-D514980851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272" y="1644390"/>
            <a:ext cx="5839640" cy="3048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F7F2B9CF-DFC5-40BE-966B-FFA2AD14BB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678" y="4988351"/>
            <a:ext cx="5096586" cy="8668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092766D5-9C13-43FA-B2C8-4C219B2CF2F3}"/>
              </a:ext>
            </a:extLst>
          </p:cNvPr>
          <p:cNvSpPr txBox="1"/>
          <p:nvPr/>
        </p:nvSpPr>
        <p:spPr>
          <a:xfrm>
            <a:off x="10219015" y="6427429"/>
            <a:ext cx="3540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Avenir LT Pro 65 Medium" panose="020B0603020203020204" pitchFamily="34" charset="0"/>
              </a:rPr>
              <a:t>by </a:t>
            </a:r>
            <a:r>
              <a:rPr lang="en-IN" sz="1600" dirty="0" err="1" smtClean="0">
                <a:latin typeface="Avenir LT Pro 65 Medium" panose="020B0603020203020204" pitchFamily="34" charset="0"/>
              </a:rPr>
              <a:t>Mohith</a:t>
            </a:r>
            <a:r>
              <a:rPr lang="en-IN" sz="1600" dirty="0" smtClean="0">
                <a:latin typeface="Avenir LT Pro 65 Medium" panose="020B0603020203020204" pitchFamily="34" charset="0"/>
              </a:rPr>
              <a:t> Raj</a:t>
            </a:r>
            <a:endParaRPr lang="en-IN" sz="1600" dirty="0">
              <a:latin typeface="Avenir LT Pro 65 Medium" panose="020B06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097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4E606B63-109F-48F1-85F2-496E9BF2ED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C90F760-FB28-46C0-BEE6-D9628C66C701}"/>
              </a:ext>
            </a:extLst>
          </p:cNvPr>
          <p:cNvSpPr txBox="1"/>
          <p:nvPr/>
        </p:nvSpPr>
        <p:spPr>
          <a:xfrm>
            <a:off x="101600" y="6412040"/>
            <a:ext cx="2226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venir LT Pro 65 Medium" panose="020B0603020203020204" pitchFamily="34" charset="0"/>
              </a:rPr>
              <a:t>AtliQ Hardwares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1C8F2B6D-05D6-41FE-BF97-BFFB0A8034A0}"/>
              </a:ext>
            </a:extLst>
          </p:cNvPr>
          <p:cNvSpPr txBox="1"/>
          <p:nvPr/>
        </p:nvSpPr>
        <p:spPr>
          <a:xfrm>
            <a:off x="1214781" y="414570"/>
            <a:ext cx="98972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Generate a report which contains the top 5 customers who received an average high pre invoice discount_pct for the fiscal year 202I and in the Indian market. The final output contains these fields</a:t>
            </a:r>
          </a:p>
          <a:p>
            <a:r>
              <a:rPr lang="en-GB" b="1" dirty="0"/>
              <a:t>customer_code customer average_discount_percentage.</a:t>
            </a:r>
          </a:p>
          <a:p>
            <a:endParaRPr lang="en-GB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45E14BB-17DA-4114-A005-1B48F27E6F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" y="1721365"/>
            <a:ext cx="8049748" cy="26768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0BBD9927-A530-4CC7-B397-8CA820B664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4890" y="4398264"/>
            <a:ext cx="3477110" cy="16385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092766D5-9C13-43FA-B2C8-4C219B2CF2F3}"/>
              </a:ext>
            </a:extLst>
          </p:cNvPr>
          <p:cNvSpPr txBox="1"/>
          <p:nvPr/>
        </p:nvSpPr>
        <p:spPr>
          <a:xfrm>
            <a:off x="10219015" y="6427429"/>
            <a:ext cx="3540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Avenir LT Pro 65 Medium" panose="020B0603020203020204" pitchFamily="34" charset="0"/>
              </a:rPr>
              <a:t>by </a:t>
            </a:r>
            <a:r>
              <a:rPr lang="en-IN" sz="1600" dirty="0" err="1" smtClean="0">
                <a:latin typeface="Avenir LT Pro 65 Medium" panose="020B0603020203020204" pitchFamily="34" charset="0"/>
              </a:rPr>
              <a:t>Mohith</a:t>
            </a:r>
            <a:r>
              <a:rPr lang="en-IN" sz="1600" dirty="0" smtClean="0">
                <a:latin typeface="Avenir LT Pro 65 Medium" panose="020B0603020203020204" pitchFamily="34" charset="0"/>
              </a:rPr>
              <a:t> Raj</a:t>
            </a:r>
            <a:endParaRPr lang="en-IN" sz="1600" dirty="0">
              <a:latin typeface="Avenir LT Pro 65 Medium" panose="020B06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760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4E606B63-109F-48F1-85F2-496E9BF2ED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C90F760-FB28-46C0-BEE6-D9628C66C701}"/>
              </a:ext>
            </a:extLst>
          </p:cNvPr>
          <p:cNvSpPr txBox="1"/>
          <p:nvPr/>
        </p:nvSpPr>
        <p:spPr>
          <a:xfrm>
            <a:off x="101600" y="6412040"/>
            <a:ext cx="2226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venir LT Pro 65 Medium" panose="020B0603020203020204" pitchFamily="34" charset="0"/>
              </a:rPr>
              <a:t>AtliQ Hardwares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1C8F2B6D-05D6-41FE-BF97-BFFB0A8034A0}"/>
              </a:ext>
            </a:extLst>
          </p:cNvPr>
          <p:cNvSpPr txBox="1"/>
          <p:nvPr/>
        </p:nvSpPr>
        <p:spPr>
          <a:xfrm>
            <a:off x="1320800" y="540000"/>
            <a:ext cx="105954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Get the complete report of the Gross sales amount for the customer "Atliq Exclusive "for each month. This analysis helps to get an idea of low and high-performing months and take strategic decisions. The final</a:t>
            </a:r>
          </a:p>
          <a:p>
            <a:r>
              <a:rPr lang="en-GB" b="1" dirty="0"/>
              <a:t>report contains these columns: Month Year Gross sales Amount.</a:t>
            </a:r>
          </a:p>
          <a:p>
            <a:endParaRPr lang="en-GB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FA313745-8B76-4CEC-AF5B-19A5535AB9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5276" y="1874002"/>
            <a:ext cx="3600953" cy="36390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D568FE27-7DBC-414E-A66B-DA2D62D884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782" y="1874002"/>
            <a:ext cx="6963747" cy="29245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092766D5-9C13-43FA-B2C8-4C219B2CF2F3}"/>
              </a:ext>
            </a:extLst>
          </p:cNvPr>
          <p:cNvSpPr txBox="1"/>
          <p:nvPr/>
        </p:nvSpPr>
        <p:spPr>
          <a:xfrm>
            <a:off x="10219015" y="6427429"/>
            <a:ext cx="3540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Avenir LT Pro 65 Medium" panose="020B0603020203020204" pitchFamily="34" charset="0"/>
              </a:rPr>
              <a:t>by </a:t>
            </a:r>
            <a:r>
              <a:rPr lang="en-IN" sz="1600" dirty="0" err="1" smtClean="0">
                <a:latin typeface="Avenir LT Pro 65 Medium" panose="020B0603020203020204" pitchFamily="34" charset="0"/>
              </a:rPr>
              <a:t>Mohith</a:t>
            </a:r>
            <a:r>
              <a:rPr lang="en-IN" sz="1600" dirty="0" smtClean="0">
                <a:latin typeface="Avenir LT Pro 65 Medium" panose="020B0603020203020204" pitchFamily="34" charset="0"/>
              </a:rPr>
              <a:t> Raj</a:t>
            </a:r>
            <a:endParaRPr lang="en-IN" sz="1600" dirty="0">
              <a:latin typeface="Avenir LT Pro 65 Medium" panose="020B06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3487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4E606B63-109F-48F1-85F2-496E9BF2ED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C90F760-FB28-46C0-BEE6-D9628C66C701}"/>
              </a:ext>
            </a:extLst>
          </p:cNvPr>
          <p:cNvSpPr txBox="1"/>
          <p:nvPr/>
        </p:nvSpPr>
        <p:spPr>
          <a:xfrm>
            <a:off x="101600" y="6412040"/>
            <a:ext cx="2226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venir LT Pro 65 Medium" panose="020B0603020203020204" pitchFamily="34" charset="0"/>
              </a:rPr>
              <a:t>AtliQ Hardwares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1C8F2B6D-05D6-41FE-BF97-BFFB0A8034A0}"/>
              </a:ext>
            </a:extLst>
          </p:cNvPr>
          <p:cNvSpPr txBox="1"/>
          <p:nvPr/>
        </p:nvSpPr>
        <p:spPr>
          <a:xfrm>
            <a:off x="1349136" y="395946"/>
            <a:ext cx="93894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Which quarter of 2020, got the maximum total_sold_quantity? The final output contains these fields sorted by the total_sold_quantiy, Quarter, total_sold_quantity.</a:t>
            </a:r>
          </a:p>
          <a:p>
            <a:endParaRPr lang="en-GB" b="1" dirty="0"/>
          </a:p>
          <a:p>
            <a:endParaRPr lang="en-GB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DE10094-8AED-4F97-BBD1-E41D640455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136" y="1242214"/>
            <a:ext cx="6677957" cy="41058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5B6A03C-22F3-4DEC-94A8-27FA11E932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8194" y="4004850"/>
            <a:ext cx="2581635" cy="13432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092766D5-9C13-43FA-B2C8-4C219B2CF2F3}"/>
              </a:ext>
            </a:extLst>
          </p:cNvPr>
          <p:cNvSpPr txBox="1"/>
          <p:nvPr/>
        </p:nvSpPr>
        <p:spPr>
          <a:xfrm>
            <a:off x="10219015" y="6427429"/>
            <a:ext cx="3540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Avenir LT Pro 65 Medium" panose="020B0603020203020204" pitchFamily="34" charset="0"/>
              </a:rPr>
              <a:t>by </a:t>
            </a:r>
            <a:r>
              <a:rPr lang="en-IN" sz="1600" dirty="0" err="1" smtClean="0">
                <a:latin typeface="Avenir LT Pro 65 Medium" panose="020B0603020203020204" pitchFamily="34" charset="0"/>
              </a:rPr>
              <a:t>Mohith</a:t>
            </a:r>
            <a:r>
              <a:rPr lang="en-IN" sz="1600" dirty="0" smtClean="0">
                <a:latin typeface="Avenir LT Pro 65 Medium" panose="020B0603020203020204" pitchFamily="34" charset="0"/>
              </a:rPr>
              <a:t> Raj</a:t>
            </a:r>
            <a:endParaRPr lang="en-IN" sz="1600" dirty="0">
              <a:latin typeface="Avenir LT Pro 65 Medium" panose="020B06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1436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4E606B63-109F-48F1-85F2-496E9BF2ED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C90F760-FB28-46C0-BEE6-D9628C66C701}"/>
              </a:ext>
            </a:extLst>
          </p:cNvPr>
          <p:cNvSpPr txBox="1"/>
          <p:nvPr/>
        </p:nvSpPr>
        <p:spPr>
          <a:xfrm>
            <a:off x="101600" y="6412040"/>
            <a:ext cx="2226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venir LT Pro 65 Medium" panose="020B0603020203020204" pitchFamily="34" charset="0"/>
              </a:rPr>
              <a:t>AtliQ Hardwares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1C8F2B6D-05D6-41FE-BF97-BFFB0A8034A0}"/>
              </a:ext>
            </a:extLst>
          </p:cNvPr>
          <p:cNvSpPr txBox="1"/>
          <p:nvPr/>
        </p:nvSpPr>
        <p:spPr>
          <a:xfrm>
            <a:off x="1247315" y="380052"/>
            <a:ext cx="93894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Which channel helped to bring more gross sales in the fiscal year 2021 and the percentage of contribution? The final output contains these fields, channel gross sales min percentage.</a:t>
            </a:r>
          </a:p>
          <a:p>
            <a:endParaRPr lang="en-GB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F3FEFD8-3E2F-4E75-AD37-C88FB3B7E3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782" y="1256118"/>
            <a:ext cx="9392961" cy="36866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8662A25-3372-4B4B-8056-22F2B2A162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0288" y="4942807"/>
            <a:ext cx="3162741" cy="11526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092766D5-9C13-43FA-B2C8-4C219B2CF2F3}"/>
              </a:ext>
            </a:extLst>
          </p:cNvPr>
          <p:cNvSpPr txBox="1"/>
          <p:nvPr/>
        </p:nvSpPr>
        <p:spPr>
          <a:xfrm>
            <a:off x="10219015" y="6427429"/>
            <a:ext cx="3540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Avenir LT Pro 65 Medium" panose="020B0603020203020204" pitchFamily="34" charset="0"/>
              </a:rPr>
              <a:t>by </a:t>
            </a:r>
            <a:r>
              <a:rPr lang="en-IN" sz="1600" dirty="0" err="1" smtClean="0">
                <a:latin typeface="Avenir LT Pro 65 Medium" panose="020B0603020203020204" pitchFamily="34" charset="0"/>
              </a:rPr>
              <a:t>Mohith</a:t>
            </a:r>
            <a:r>
              <a:rPr lang="en-IN" sz="1600" dirty="0" smtClean="0">
                <a:latin typeface="Avenir LT Pro 65 Medium" panose="020B0603020203020204" pitchFamily="34" charset="0"/>
              </a:rPr>
              <a:t> Raj</a:t>
            </a:r>
            <a:endParaRPr lang="en-IN" sz="1600" dirty="0">
              <a:latin typeface="Avenir LT Pro 65 Medium" panose="020B06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6007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4E606B63-109F-48F1-85F2-496E9BF2ED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C90F760-FB28-46C0-BEE6-D9628C66C701}"/>
              </a:ext>
            </a:extLst>
          </p:cNvPr>
          <p:cNvSpPr txBox="1"/>
          <p:nvPr/>
        </p:nvSpPr>
        <p:spPr>
          <a:xfrm>
            <a:off x="101600" y="6412040"/>
            <a:ext cx="2226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venir LT Pro 65 Medium" panose="020B0603020203020204" pitchFamily="34" charset="0"/>
              </a:rPr>
              <a:t>AtliQ Hardwares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1C8F2B6D-05D6-41FE-BF97-BFFB0A8034A0}"/>
              </a:ext>
            </a:extLst>
          </p:cNvPr>
          <p:cNvSpPr txBox="1"/>
          <p:nvPr/>
        </p:nvSpPr>
        <p:spPr>
          <a:xfrm>
            <a:off x="1080000" y="275115"/>
            <a:ext cx="9389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Get all the sales transaction data from fact_sales_monthly table for that customer(croma: 90002002) in the fiscal_year 2021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B678D40C-E820-4DA9-B262-532CA70444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99" y="1200227"/>
            <a:ext cx="7106057" cy="19008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6A0AFA3A-055B-417C-A74E-8A2F9FC538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0" y="3251434"/>
            <a:ext cx="6138168" cy="29004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ABEBB39E-92E6-40B5-8621-3C4D65D15D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015" y="3225800"/>
            <a:ext cx="5300900" cy="32200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050D99E3-1425-4FA8-9DF9-E85E825EBA1D}"/>
              </a:ext>
            </a:extLst>
          </p:cNvPr>
          <p:cNvSpPr txBox="1"/>
          <p:nvPr/>
        </p:nvSpPr>
        <p:spPr>
          <a:xfrm>
            <a:off x="6715557" y="2737476"/>
            <a:ext cx="3641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Create function for fiscal_year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092766D5-9C13-43FA-B2C8-4C219B2CF2F3}"/>
              </a:ext>
            </a:extLst>
          </p:cNvPr>
          <p:cNvSpPr txBox="1"/>
          <p:nvPr/>
        </p:nvSpPr>
        <p:spPr>
          <a:xfrm>
            <a:off x="10219015" y="6427429"/>
            <a:ext cx="3540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Avenir LT Pro 65 Medium" panose="020B0603020203020204" pitchFamily="34" charset="0"/>
              </a:rPr>
              <a:t>by </a:t>
            </a:r>
            <a:r>
              <a:rPr lang="en-IN" sz="1600" dirty="0" err="1" smtClean="0">
                <a:latin typeface="Avenir LT Pro 65 Medium" panose="020B0603020203020204" pitchFamily="34" charset="0"/>
              </a:rPr>
              <a:t>Mohith</a:t>
            </a:r>
            <a:r>
              <a:rPr lang="en-IN" sz="1600" dirty="0" smtClean="0">
                <a:latin typeface="Avenir LT Pro 65 Medium" panose="020B0603020203020204" pitchFamily="34" charset="0"/>
              </a:rPr>
              <a:t> Raj</a:t>
            </a:r>
            <a:endParaRPr lang="en-IN" sz="1600" dirty="0">
              <a:latin typeface="Avenir LT Pro 65 Medium" panose="020B06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877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4E606B63-109F-48F1-85F2-496E9BF2ED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C90F760-FB28-46C0-BEE6-D9628C66C701}"/>
              </a:ext>
            </a:extLst>
          </p:cNvPr>
          <p:cNvSpPr txBox="1"/>
          <p:nvPr/>
        </p:nvSpPr>
        <p:spPr>
          <a:xfrm>
            <a:off x="101600" y="6412040"/>
            <a:ext cx="2226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venir LT Pro 65 Medium" panose="020B0603020203020204" pitchFamily="34" charset="0"/>
              </a:rPr>
              <a:t>AtliQ Hardwares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1C8F2B6D-05D6-41FE-BF97-BFFB0A8034A0}"/>
              </a:ext>
            </a:extLst>
          </p:cNvPr>
          <p:cNvSpPr txBox="1"/>
          <p:nvPr/>
        </p:nvSpPr>
        <p:spPr>
          <a:xfrm>
            <a:off x="1214782" y="661153"/>
            <a:ext cx="9389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Generate monthly gross sales report for any customer using stored procedure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3F0FAE9-CEDD-4AE2-A67C-A10628A2AC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782" y="1573630"/>
            <a:ext cx="5039428" cy="38962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5F8190AC-FD26-4DE8-B64C-146C6F22AD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432" y="2650105"/>
            <a:ext cx="4648849" cy="17433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092766D5-9C13-43FA-B2C8-4C219B2CF2F3}"/>
              </a:ext>
            </a:extLst>
          </p:cNvPr>
          <p:cNvSpPr txBox="1"/>
          <p:nvPr/>
        </p:nvSpPr>
        <p:spPr>
          <a:xfrm>
            <a:off x="10219015" y="6427429"/>
            <a:ext cx="3540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Avenir LT Pro 65 Medium" panose="020B0603020203020204" pitchFamily="34" charset="0"/>
              </a:rPr>
              <a:t>by </a:t>
            </a:r>
            <a:r>
              <a:rPr lang="en-IN" sz="1600" dirty="0" err="1" smtClean="0">
                <a:latin typeface="Avenir LT Pro 65 Medium" panose="020B0603020203020204" pitchFamily="34" charset="0"/>
              </a:rPr>
              <a:t>Mohith</a:t>
            </a:r>
            <a:r>
              <a:rPr lang="en-IN" sz="1600" dirty="0" smtClean="0">
                <a:latin typeface="Avenir LT Pro 65 Medium" panose="020B0603020203020204" pitchFamily="34" charset="0"/>
              </a:rPr>
              <a:t> Raj</a:t>
            </a:r>
            <a:endParaRPr lang="en-IN" sz="1600" dirty="0">
              <a:latin typeface="Avenir LT Pro 65 Medium" panose="020B06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2064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1111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11111" id="{7E65B1E8-BFFE-4A81-A9BF-CD895C7ECE66}" vid="{5FDA63A6-45D5-4DB4-9E59-A8D93E609B6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111111</Template>
  <TotalTime>299</TotalTime>
  <Words>565</Words>
  <Application>Microsoft Office PowerPoint</Application>
  <PresentationFormat>Widescreen</PresentationFormat>
  <Paragraphs>64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Avenir LT Pro 65 Medium</vt:lpstr>
      <vt:lpstr>Calibri</vt:lpstr>
      <vt:lpstr>Calibri Light</vt:lpstr>
      <vt:lpstr>Söhne</vt:lpstr>
      <vt:lpstr>111111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Yatin</dc:creator>
  <cp:lastModifiedBy>Microsoft account</cp:lastModifiedBy>
  <cp:revision>53</cp:revision>
  <dcterms:created xsi:type="dcterms:W3CDTF">2024-04-27T19:30:57Z</dcterms:created>
  <dcterms:modified xsi:type="dcterms:W3CDTF">2026-02-23T16:38:58Z</dcterms:modified>
</cp:coreProperties>
</file>